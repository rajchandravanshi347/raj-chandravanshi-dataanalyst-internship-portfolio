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microsoft.com/office/2007/relationships/hdphoto" Target="../media/image7.wdp"/><Relationship Id="rId3" Type="http://schemas.openxmlformats.org/officeDocument/2006/relationships/image" Target="../media/image6.png"/><Relationship Id="rId2" Type="http://schemas.openxmlformats.org/officeDocument/2006/relationships/tags" Target="../tags/tag1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11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10.png"/><Relationship Id="rId4" Type="http://schemas.openxmlformats.org/officeDocument/2006/relationships/tags" Target="../tags/tag26.xml"/><Relationship Id="rId3" Type="http://schemas.openxmlformats.org/officeDocument/2006/relationships/image" Target="../media/image9.png"/><Relationship Id="rId2" Type="http://schemas.openxmlformats.org/officeDocument/2006/relationships/tags" Target="../tags/tag25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microsoft.com/office/2007/relationships/hdphoto" Target="../media/image4.wdp"/><Relationship Id="rId8" Type="http://schemas.openxmlformats.org/officeDocument/2006/relationships/image" Target="../media/image3.png"/><Relationship Id="rId7" Type="http://schemas.openxmlformats.org/officeDocument/2006/relationships/tags" Target="../tags/tag67.xml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5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59000">
                <a:schemeClr val="bg2">
                  <a:alpha val="0"/>
                </a:schemeClr>
              </a:gs>
              <a:gs pos="0">
                <a:schemeClr val="bg2">
                  <a:alpha val="99000"/>
                </a:schemeClr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89801"/>
            <a:ext cx="9144000" cy="330555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8800"/>
            <a:ext cx="9144000" cy="3307556"/>
          </a:xfrm>
          <a:prstGeom prst="rect">
            <a:avLst/>
          </a:prstGeom>
        </p:spPr>
      </p:pic>
      <p:sp>
        <p:nvSpPr>
          <p:cNvPr id="23" name="图形 21"/>
          <p:cNvSpPr/>
          <p:nvPr>
            <p:custDataLst>
              <p:tags r:id="rId9"/>
            </p:custDataLst>
          </p:nvPr>
        </p:nvSpPr>
        <p:spPr>
          <a:xfrm>
            <a:off x="2145908" y="3768285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434"/>
            <a:ext cx="9144000" cy="3307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785813" y="2356425"/>
            <a:ext cx="7572375" cy="972563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3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785813" y="1510546"/>
            <a:ext cx="7572375" cy="743962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85813" y="3435386"/>
            <a:ext cx="7572375" cy="1550951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9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2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81" y="858441"/>
            <a:ext cx="9144000" cy="2135981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5"/>
            </p:custDataLst>
          </p:nvPr>
        </p:nvSpPr>
        <p:spPr>
          <a:xfrm flipV="1">
            <a:off x="1245795" y="560162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775"/>
            <a:ext cx="9141619" cy="2166189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8"/>
            </p:custDataLst>
          </p:nvPr>
        </p:nvSpPr>
        <p:spPr>
          <a:xfrm>
            <a:off x="2381" y="856774"/>
            <a:ext cx="9141619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01304" y="1281150"/>
            <a:ext cx="5828109" cy="1219163"/>
          </a:xfrm>
        </p:spPr>
        <p:txBody>
          <a:bodyPr anchor="b">
            <a:normAutofit/>
          </a:bodyPr>
          <a:lstStyle>
            <a:lvl1pPr>
              <a:defRPr sz="33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4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857250"/>
            <a:ext cx="6722269" cy="5143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57250"/>
            <a:ext cx="6722269" cy="5143500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>
            <p:custDataLst>
              <p:tags r:id="rId6"/>
            </p:custDataLst>
          </p:nvPr>
        </p:nvSpPr>
        <p:spPr>
          <a:xfrm>
            <a:off x="4610" y="1848187"/>
            <a:ext cx="5176684" cy="4152563"/>
          </a:xfrm>
          <a:custGeom>
            <a:avLst/>
            <a:gdLst>
              <a:gd name="connsiteX0" fmla="*/ 0 w 6411247"/>
              <a:gd name="connsiteY0" fmla="*/ 0 h 5212988"/>
              <a:gd name="connsiteX1" fmla="*/ 3539613 w 6411247"/>
              <a:gd name="connsiteY1" fmla="*/ 0 h 5212988"/>
              <a:gd name="connsiteX2" fmla="*/ 3539613 w 6411247"/>
              <a:gd name="connsiteY2" fmla="*/ 129392 h 5212988"/>
              <a:gd name="connsiteX3" fmla="*/ 3768950 w 6411247"/>
              <a:gd name="connsiteY3" fmla="*/ 139399 h 5212988"/>
              <a:gd name="connsiteX4" fmla="*/ 6411247 w 6411247"/>
              <a:gd name="connsiteY4" fmla="*/ 2669628 h 5212988"/>
              <a:gd name="connsiteX5" fmla="*/ 3768950 w 6411247"/>
              <a:gd name="connsiteY5" fmla="*/ 5199857 h 5212988"/>
              <a:gd name="connsiteX6" fmla="*/ 3539613 w 6411247"/>
              <a:gd name="connsiteY6" fmla="*/ 5209864 h 5212988"/>
              <a:gd name="connsiteX7" fmla="*/ 3539613 w 6411247"/>
              <a:gd name="connsiteY7" fmla="*/ 5212988 h 5212988"/>
              <a:gd name="connsiteX8" fmla="*/ 3468022 w 6411247"/>
              <a:gd name="connsiteY8" fmla="*/ 5212988 h 5212988"/>
              <a:gd name="connsiteX9" fmla="*/ 0 w 6411247"/>
              <a:gd name="connsiteY9" fmla="*/ 5212988 h 521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11247" h="5212988">
                <a:moveTo>
                  <a:pt x="0" y="0"/>
                </a:moveTo>
                <a:lnTo>
                  <a:pt x="3539613" y="0"/>
                </a:lnTo>
                <a:lnTo>
                  <a:pt x="3539613" y="129392"/>
                </a:lnTo>
                <a:lnTo>
                  <a:pt x="3768950" y="139399"/>
                </a:lnTo>
                <a:cubicBezTo>
                  <a:pt x="5253089" y="269645"/>
                  <a:pt x="6411247" y="1352760"/>
                  <a:pt x="6411247" y="2669628"/>
                </a:cubicBezTo>
                <a:cubicBezTo>
                  <a:pt x="6411247" y="3986496"/>
                  <a:pt x="5253089" y="5069612"/>
                  <a:pt x="3768950" y="5199857"/>
                </a:cubicBezTo>
                <a:lnTo>
                  <a:pt x="3539613" y="5209864"/>
                </a:lnTo>
                <a:lnTo>
                  <a:pt x="3539613" y="5212988"/>
                </a:lnTo>
                <a:lnTo>
                  <a:pt x="3468022" y="5212988"/>
                </a:lnTo>
                <a:lnTo>
                  <a:pt x="0" y="5212988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13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482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57250"/>
            <a:ext cx="6722269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686050" y="4574550"/>
            <a:ext cx="5829300" cy="742613"/>
          </a:xfrm>
        </p:spPr>
        <p:txBody>
          <a:bodyPr anchor="b">
            <a:normAutofit/>
          </a:bodyPr>
          <a:lstStyle>
            <a:lvl1pPr algn="r">
              <a:defRPr sz="2700" b="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4100513" y="990665"/>
            <a:ext cx="4414838" cy="1100344"/>
          </a:xfrm>
        </p:spPr>
        <p:txBody>
          <a:bodyPr wrap="none" anchor="b">
            <a:noAutofit/>
          </a:bodyPr>
          <a:lstStyle>
            <a:lvl1pPr marL="0" indent="0" algn="r">
              <a:buNone/>
              <a:defRPr sz="495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lIns="0" tIns="0" rIns="0" bIns="0" rtlCol="0" anchor="ctr">
            <a:normAutofit/>
          </a:bodyPr>
          <a:lstStyle>
            <a:lvl1pPr algn="ctr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970" y="1127250"/>
            <a:ext cx="8099316" cy="648000"/>
          </a:xfrm>
        </p:spPr>
        <p:txBody>
          <a:bodyPr/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anchor="t"/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37497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 userDrawn="1">
            <p:custDataLst>
              <p:tags r:id="rId3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59000">
                <a:schemeClr val="bg1">
                  <a:alpha val="40000"/>
                </a:schemeClr>
              </a:gs>
              <a:gs pos="0">
                <a:schemeClr val="bg2"/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89801"/>
            <a:ext cx="9144000" cy="330555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8800"/>
            <a:ext cx="9144000" cy="3307556"/>
          </a:xfrm>
          <a:prstGeom prst="rect">
            <a:avLst/>
          </a:prstGeom>
        </p:spPr>
      </p:pic>
      <p:sp>
        <p:nvSpPr>
          <p:cNvPr id="20" name="图形 21"/>
          <p:cNvSpPr/>
          <p:nvPr userDrawn="1">
            <p:custDataLst>
              <p:tags r:id="rId10"/>
            </p:custDataLst>
          </p:nvPr>
        </p:nvSpPr>
        <p:spPr>
          <a:xfrm>
            <a:off x="2145908" y="3768285"/>
            <a:ext cx="7169543" cy="213007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434"/>
            <a:ext cx="9144000" cy="3307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3"/>
            </p:custDataLst>
          </p:nvPr>
        </p:nvSpPr>
        <p:spPr>
          <a:xfrm>
            <a:off x="771525" y="1306152"/>
            <a:ext cx="6929438" cy="2099494"/>
          </a:xfrm>
        </p:spPr>
        <p:txBody>
          <a:bodyPr anchor="b"/>
          <a:lstStyle>
            <a:lvl1pPr algn="l">
              <a:lnSpc>
                <a:spcPct val="100000"/>
              </a:lnSpc>
              <a:defRPr sz="45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7"/>
            </p:custDataLst>
          </p:nvPr>
        </p:nvSpPr>
        <p:spPr>
          <a:xfrm>
            <a:off x="771525" y="3929951"/>
            <a:ext cx="5357813" cy="91933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5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9.xml"/><Relationship Id="rId18" Type="http://schemas.openxmlformats.org/officeDocument/2006/relationships/image" Target="../media/image8.png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microsoft.com/office/2007/relationships/hdphoto" Target="../media/image7.wdp"/><Relationship Id="rId14" Type="http://schemas.openxmlformats.org/officeDocument/2006/relationships/image" Target="../media/image6.png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2381" y="856774"/>
            <a:ext cx="9141619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7033" y="853361"/>
            <a:ext cx="3823420" cy="893127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16"/>
            </p:custDataLst>
          </p:nvPr>
        </p:nvSpPr>
        <p:spPr>
          <a:xfrm flipV="1">
            <a:off x="5848938" y="728640"/>
            <a:ext cx="2997831" cy="890656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637" y="853361"/>
            <a:ext cx="3823420" cy="89312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9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0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1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2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3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en-US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image" Target="../media/image12.png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image" Target="../media/image13.png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6114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>
                <a:solidFill>
                  <a:schemeClr val="tx1"/>
                </a:solidFill>
              </a:rPr>
              <a:t>Data Analytics Internship</a:t>
            </a:r>
            <a:endParaRPr b="1">
              <a:solidFill>
                <a:schemeClr val="tx1"/>
              </a:solidFill>
            </a:endParaRPr>
          </a:p>
          <a:p>
            <a:r>
              <a:rPr b="1">
                <a:solidFill>
                  <a:schemeClr val="tx1"/>
                </a:solidFill>
              </a:rPr>
              <a:t>Task 4: Data Storytelling</a:t>
            </a:r>
            <a:r>
              <a:rPr lang="en-IN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&amp; Statistical Analysis</a:t>
            </a:r>
            <a:endParaRPr lang="en-US" altLang="en-US" b="1">
              <a:solidFill>
                <a:schemeClr val="tx1"/>
              </a:solidFill>
            </a:endParaRPr>
          </a:p>
          <a:p>
            <a:r>
              <a:rPr b="1">
                <a:solidFill>
                  <a:schemeClr val="tx1"/>
                </a:solidFill>
              </a:rPr>
              <a:t>Raj Chandravanshi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>
                <a:solidFill>
                  <a:schemeClr val="tx1"/>
                </a:solidFill>
              </a:rPr>
              <a:t> </a:t>
            </a:r>
            <a:endParaRPr lang="en-I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366520" y="1974215"/>
            <a:ext cx="5970270" cy="4951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00000"/>
              </a:lnSpc>
            </a:pPr>
            <a:r>
              <a:rPr lang="en-IN" altLang="en-US">
                <a:sym typeface="+mn-ea"/>
              </a:rPr>
              <a:t> </a:t>
            </a:r>
            <a:endParaRPr lang="en-US" altLang="en-US">
              <a:sym typeface="+mn-ea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The goal of this analysis is to evaluate sales performance over time and identify key trends that can support data-driven business decisions.</a:t>
            </a:r>
            <a:endParaRPr lang="en-US" altLang="en-US">
              <a:sym typeface="+mn-ea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sym typeface="+mn-ea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This project focuses on understanding growth patterns, category performance, and overall business improvement.</a:t>
            </a:r>
            <a:endParaRPr lang="en-US" altLang="en-US">
              <a:sym typeface="+mn-ea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sym typeface="+mn-ea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sym typeface="+mn-ea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>
                <a:sym typeface="+mn-ea"/>
              </a:rPr>
              <a:t>In short : </a:t>
            </a:r>
            <a:r>
              <a:rPr>
                <a:sym typeface="+mn-ea"/>
              </a:rPr>
              <a:t>Analyze sales data and generate insights</a:t>
            </a:r>
            <a:endParaRPr lang="en-US" sz="2000" b="1" spc="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95500" y="645160"/>
            <a:ext cx="4716780" cy="9359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ctr">
              <a:lnSpc>
                <a:spcPct val="100000"/>
              </a:lnSpc>
            </a:pPr>
            <a:r>
              <a:rPr lang="en-US" altLang="en-US" sz="2800">
                <a:sym typeface="+mn-ea"/>
              </a:rPr>
              <a:t>Objective:</a:t>
            </a:r>
            <a:endParaRPr lang="en-US" sz="2800" b="1" spc="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Data Cleaning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IN" altLang="en-US">
                <a:ea typeface="+mn-ea"/>
              </a:rPr>
              <a:t> </a:t>
            </a:r>
            <a:endParaRPr lang="en-IN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2283777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- Removed missing values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- Removed duplicates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- Converted date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- Created Year column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EDA Insights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IN" altLang="en-US">
                <a:ea typeface="+mn-ea"/>
              </a:rPr>
              <a:t> </a:t>
            </a:r>
            <a:endParaRPr lang="en-IN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81710" y="280130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- Category performance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- Sales trends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- Data patterns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year_tren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Yearly Sales Trend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category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Sales by Category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Analysis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-3136265" y="317"/>
            <a:ext cx="8100000" cy="3655219"/>
          </a:xfrm>
        </p:spPr>
        <p:txBody>
          <a:bodyPr/>
          <a:p>
            <a:r>
              <a:rPr lang="en-IN" altLang="en-US">
                <a:ea typeface="+mn-ea"/>
              </a:rPr>
              <a:t> </a:t>
            </a:r>
            <a:endParaRPr lang="en-IN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3940" y="2456497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Sales dipped in 2016 but increased in 2017 &amp; 2018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Hypothesis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IN" altLang="en-US">
                <a:ea typeface="+mn-ea"/>
              </a:rPr>
              <a:t> </a:t>
            </a:r>
            <a:endParaRPr lang="en-IN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3365" y="2264727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Sales increased in recent years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1"/>
              </a:solidFill>
            </a:endParaRPr>
          </a:p>
          <a:p>
            <a:r>
              <a:rPr sz="2000">
                <a:sym typeface="+mn-ea"/>
              </a:rPr>
              <a:t>H0: Sales have not increased over time</a:t>
            </a:r>
            <a:endParaRPr sz="2000">
              <a:sym typeface="+mn-ea"/>
            </a:endParaRPr>
          </a:p>
          <a:p>
            <a:r>
              <a:rPr sz="2000">
                <a:sym typeface="+mn-ea"/>
              </a:rPr>
              <a:t>H1: Sales have increased over time</a:t>
            </a:r>
            <a:endParaRPr sz="2000">
              <a:sym typeface="+mn-ea"/>
            </a:endParaRPr>
          </a:p>
          <a:p>
            <a:endParaRPr sz="20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ctr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Conclusion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03580" y="2953702"/>
            <a:ext cx="8100000" cy="3655219"/>
          </a:xfrm>
        </p:spPr>
        <p:txBody>
          <a:bodyPr/>
          <a:p>
            <a:r>
              <a:rPr lang="en-IN" altLang="en-US">
                <a:ea typeface="+mn-ea"/>
              </a:rPr>
              <a:t> </a:t>
            </a:r>
            <a:endParaRPr lang="en-IN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5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This analysis demonstrates a complete data analytics workflow — from data cleaning to storytelling.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findings clearly show that sales have improved over time, indicating positive business growth.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Data-driven insights can significantly enhance strategic decision-making.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sz="4800">
                <a:solidFill>
                  <a:schemeClr val="tx1"/>
                </a:solidFill>
              </a:rPr>
              <a:t>In short : </a:t>
            </a:r>
            <a:r>
              <a:rPr sz="4800">
                <a:solidFill>
                  <a:schemeClr val="tx1"/>
                </a:solidFill>
              </a:rPr>
              <a:t>Business growth is positive</a:t>
            </a:r>
            <a:endParaRPr sz="48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8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SLIDE_TYPE" val="text"/>
  <p:tag name="KSO_WM_BEAUTIFY_FLAG" val="#wm#"/>
  <p:tag name="KSO_WM_SLIDE_THEME_ID" val="3316291"/>
  <p:tag name="KSO_WM_SLIDE_THEME_NAME" val="Green Gradient"/>
</p:tagLst>
</file>

<file path=ppt/tags/tag87.xml><?xml version="1.0" encoding="utf-8"?>
<p:tagLst xmlns:p="http://schemas.openxmlformats.org/presentationml/2006/main">
  <p:tag name="KSO_WM_UNIT_TEXT" val="Objecti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SLIDE_TYPE" val="text"/>
  <p:tag name="KSO_WM_BEAUTIFY_FLAG" val="#wm#"/>
</p:tagLst>
</file>

<file path=ppt/tags/tag91.xml><?xml version="1.0" encoding="utf-8"?>
<p:tagLst xmlns:p="http://schemas.openxmlformats.org/presentationml/2006/main">
  <p:tag name="KSO_WM_UNIT_TEXT" val="Data Clea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SLIDE_TYPE" val="text"/>
  <p:tag name="KSO_WM_BEAUTIFY_FLAG" val="#wm#"/>
</p:tagLst>
</file>

<file path=ppt/tags/tag9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99.xml><?xml version="1.0" encoding="utf-8"?>
<p:tagLst xmlns:p="http://schemas.openxmlformats.org/presentationml/2006/main">
  <p:tag name="KSO_WM_UNIT_TEXT" val="Yearly Sales Tre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TEXT" val="EDA Insigh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SLIDE_TYPE" val="text"/>
  <p:tag name="KSO_WM_BEAUTIFY_FLAG" val="#wm#"/>
</p:tagLst>
</file>

<file path=ppt/tags/tag105.xml><?xml version="1.0" encoding="utf-8"?>
<p:tagLst xmlns:p="http://schemas.openxmlformats.org/presentationml/2006/main">
  <p:tag name="KSO_WM_UNIT_TEXT" val="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TEXT" val="Hypothe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WPS Presentation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Nunito Sans ExtraBold</vt:lpstr>
      <vt:lpstr>Segoe Print</vt:lpstr>
      <vt:lpstr>Nunito Sans</vt:lpstr>
      <vt:lpstr>Office Theme</vt:lpstr>
      <vt:lpstr>1_Office Theme</vt:lpstr>
      <vt:lpstr>Raj Chandravanshi</vt:lpstr>
      <vt:lpstr>PowerPoint 演示文稿</vt:lpstr>
      <vt:lpstr>Data Cleaning</vt:lpstr>
      <vt:lpstr>EDA Insights</vt:lpstr>
      <vt:lpstr>Yearly Sales Trend</vt:lpstr>
      <vt:lpstr>Sales by Category</vt:lpstr>
      <vt:lpstr>Analysis</vt:lpstr>
      <vt:lpstr>Hypothesis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WPS_1727614761</cp:lastModifiedBy>
  <cp:revision>2</cp:revision>
  <dcterms:created xsi:type="dcterms:W3CDTF">2013-01-27T09:14:00Z</dcterms:created>
  <dcterms:modified xsi:type="dcterms:W3CDTF">2026-03-30T17:01:32Z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A5B26F47283246BEAC8EBD068AD36DA4_12</vt:lpwstr>
  </property>
</Properties>
</file>